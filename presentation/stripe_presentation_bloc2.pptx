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66" r:id="rId5"/>
    <p:sldId id="259" r:id="rId6"/>
    <p:sldId id="260" r:id="rId7"/>
    <p:sldId id="267" r:id="rId8"/>
    <p:sldId id="273" r:id="rId9"/>
    <p:sldId id="262" r:id="rId10"/>
    <p:sldId id="274" r:id="rId19"/>
    <p:sldId id="263" r:id="rId11"/>
    <p:sldId id="271" r:id="rId12"/>
    <p:sldId id="276" r:id="rId21"/>
    <p:sldId id="265" r:id="rId13"/>
    <p:sldId id="275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610"/>
  </p:normalViewPr>
  <p:slideViewPr>
    <p:cSldViewPr snapToGrid="0" snapToObjects="1">
      <p:cViewPr varScale="1">
        <p:scale>
          <a:sx n="99" d="100"/>
          <a:sy n="99" d="100"/>
        </p:scale>
        <p:origin x="192" y="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5942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2.xml.rels><?xml version="1.0" encoding="UTF-8"?>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13.png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164592"/>
            <a:ext cx="12191695" cy="54864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822960" y="19050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kern="0" spc="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STRIPE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841248" y="3073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de données unifiée  ·  OLTP · OLAP · NoSQL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68680" y="3810000"/>
            <a:ext cx="3108960" cy="41148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841248" y="3987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AA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temps réel  ·  Détection de fraude  ·  PoC fonctionnel local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56692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Patrice Duclos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9AA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 AIA — RNCP41993 · Bloc 2 — Octobre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seule base ne peut pas tout faire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grande échelle, demander à PostgreSQL l’ACID transactionnel, l’analytique lourde et le stockage non-structuré en même temps devient ingérable. La réponse : une architecture polyglotte.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413000"/>
            <a:ext cx="3520440" cy="2946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548640" y="2413000"/>
            <a:ext cx="3520440" cy="109728"/>
          </a:xfrm>
          <a:prstGeom prst="rect">
            <a:avLst/>
          </a:prstGeom>
          <a:solidFill>
            <a:srgbClr val="635B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819400"/>
            <a:ext cx="777240" cy="777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3733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Volumes massifs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68680" y="42164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de transactions/jour, latence &lt; 50 ms exigée sur l’OLTP.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315968" y="2413000"/>
            <a:ext cx="3520440" cy="2946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4315968" y="2413000"/>
            <a:ext cx="3520440" cy="109728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6008" y="2819400"/>
            <a:ext cx="777240" cy="7772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36008" y="3733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Analytique complexe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636008" y="42164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 multi-dimensions sur tout l’historique, sans bloquer la prod.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83296" y="2413000"/>
            <a:ext cx="3520440" cy="2946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2"/>
          <p:cNvSpPr/>
          <p:nvPr/>
        </p:nvSpPr>
        <p:spPr>
          <a:xfrm>
            <a:off x="8083296" y="2413000"/>
            <a:ext cx="3520440" cy="109728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3336" y="2819400"/>
            <a:ext cx="777240" cy="7772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403336" y="3733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Conformité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403336" y="42164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PCI-DSS v4.0 et RGPD sur des données de paiement sensibles.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bon outil pour chaque besoin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949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8872" cy="201168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92808"/>
            <a:ext cx="914400" cy="914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10312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OLTP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2103120" y="205740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PostgreSQL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2103120" y="26060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ACID, source de vérité, 3NF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172200" y="1508760"/>
            <a:ext cx="53949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6172200" y="1508760"/>
            <a:ext cx="118872" cy="201168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892808"/>
            <a:ext cx="914400" cy="9144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72668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OLAP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7726680" y="205740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Snowflake</a:t>
            </a:r>
            <a:endParaRPr lang="en-US" sz="2300" dirty="0"/>
          </a:p>
        </p:txBody>
      </p:sp>
      <p:sp>
        <p:nvSpPr>
          <p:cNvPr id="15" name="Text 11"/>
          <p:cNvSpPr/>
          <p:nvPr/>
        </p:nvSpPr>
        <p:spPr>
          <a:xfrm>
            <a:off x="7726680" y="26060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 en étoile · dry-run, hors pipeline live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548640" y="3749040"/>
            <a:ext cx="53949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3"/>
          <p:cNvSpPr/>
          <p:nvPr/>
        </p:nvSpPr>
        <p:spPr>
          <a:xfrm>
            <a:off x="548640" y="3749040"/>
            <a:ext cx="118872" cy="201168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133088"/>
            <a:ext cx="914400" cy="9144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210312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NoSQL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2103120" y="429895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MongoDB</a:t>
            </a:r>
            <a:endParaRPr lang="en-US" sz="2300" dirty="0"/>
          </a:p>
        </p:txBody>
      </p:sp>
      <p:sp>
        <p:nvSpPr>
          <p:cNvPr id="21" name="Text 16"/>
          <p:cNvSpPr/>
          <p:nvPr/>
        </p:nvSpPr>
        <p:spPr>
          <a:xfrm>
            <a:off x="2103120" y="48463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Logs, alertes, features &amp; monitoring ML</a:t>
            </a:r>
            <a:endParaRPr lang="en-US" sz="1350" dirty="0"/>
          </a:p>
        </p:txBody>
      </p:sp>
      <p:sp>
        <p:nvSpPr>
          <p:cNvPr id="22" name="Shape 17"/>
          <p:cNvSpPr/>
          <p:nvPr/>
        </p:nvSpPr>
        <p:spPr>
          <a:xfrm>
            <a:off x="6172200" y="3749040"/>
            <a:ext cx="53949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Shape 18"/>
          <p:cNvSpPr/>
          <p:nvPr/>
        </p:nvSpPr>
        <p:spPr>
          <a:xfrm>
            <a:off x="6172200" y="3749040"/>
            <a:ext cx="118872" cy="2011680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4133088"/>
            <a:ext cx="914400" cy="91440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72668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7726680" y="429895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Kafka + Flink</a:t>
            </a:r>
            <a:endParaRPr lang="en-US" sz="2300" dirty="0"/>
          </a:p>
        </p:txBody>
      </p:sp>
      <p:sp>
        <p:nvSpPr>
          <p:cNvPr id="27" name="Text 21"/>
          <p:cNvSpPr/>
          <p:nvPr/>
        </p:nvSpPr>
        <p:spPr>
          <a:xfrm>
            <a:off x="7726680" y="48463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d’événements, scoring temps réel + Redis</a:t>
            </a:r>
            <a:endParaRPr lang="en-US" sz="1350" dirty="0"/>
          </a:p>
        </p:txBody>
      </p:sp>
      <p:sp>
        <p:nvSpPr>
          <p:cNvPr id="28" name="Text 22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tripe_architecture_glob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0920" y="380000"/>
            <a:ext cx="8950160" cy="609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parcours de la donnée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2423160"/>
          </a:xfrm>
          <a:prstGeom prst="roundRect">
            <a:avLst>
              <a:gd name="adj" fmla="val 3019"/>
            </a:avLst>
          </a:prstGeom>
          <a:solidFill>
            <a:srgbClr val="EEEDFE"/>
          </a:solidFill>
          <a:ln w="12700">
            <a:solidFill>
              <a:srgbClr val="D9D6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777240" y="151790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3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TEMPS RÉEL — scoring fraude &lt; 100 ms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13232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713232" y="2148840"/>
            <a:ext cx="1627632" cy="91440"/>
          </a:xfrm>
          <a:prstGeom prst="rect">
            <a:avLst/>
          </a:prstGeom>
          <a:solidFill>
            <a:srgbClr val="6B728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713232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13232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40864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2505456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2505456" y="2148840"/>
            <a:ext cx="1627632" cy="9144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2505456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505456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OLTP · ACID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33088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4297680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4297680" y="2148840"/>
            <a:ext cx="1627632" cy="9144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4297680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Debezium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297680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CDC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25312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6089904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6089904" y="2148840"/>
            <a:ext cx="1627632" cy="9144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6089904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089904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17536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7882128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7882128" y="2148840"/>
            <a:ext cx="1627632" cy="9144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7882128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Flink + Redis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882128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· règles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509760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31" name="Shape 29"/>
          <p:cNvSpPr/>
          <p:nvPr/>
        </p:nvSpPr>
        <p:spPr>
          <a:xfrm>
            <a:off x="9674352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2" name="Shape 30"/>
          <p:cNvSpPr/>
          <p:nvPr/>
        </p:nvSpPr>
        <p:spPr>
          <a:xfrm>
            <a:off x="9674352" y="2148840"/>
            <a:ext cx="1627632" cy="9144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9674352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674352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· alerts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77240" y="33101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write-back fraud_score → PostgreSQL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48640" y="4114800"/>
            <a:ext cx="11109960" cy="1965960"/>
          </a:xfrm>
          <a:prstGeom prst="roundRect">
            <a:avLst>
              <a:gd name="adj" fmla="val 3721"/>
            </a:avLst>
          </a:prstGeom>
          <a:solidFill>
            <a:srgbClr val="E7F0FB"/>
          </a:solidFill>
          <a:ln w="12700">
            <a:solidFill>
              <a:srgbClr val="CBDDF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Text 35"/>
          <p:cNvSpPr/>
          <p:nvPr/>
        </p:nvSpPr>
        <p:spPr>
          <a:xfrm>
            <a:off x="777240" y="42062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5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BATCH — nuit · Apache Airflow · Snowflake en dry-run (pas dans la démo live)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914400" y="48006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DF4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9" name="Shape 37"/>
          <p:cNvSpPr/>
          <p:nvPr/>
        </p:nvSpPr>
        <p:spPr>
          <a:xfrm>
            <a:off x="914400" y="4800600"/>
            <a:ext cx="2194560" cy="9144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0" name="Text 38"/>
          <p:cNvSpPr/>
          <p:nvPr/>
        </p:nvSpPr>
        <p:spPr>
          <a:xfrm>
            <a:off x="914400" y="5001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914400" y="53675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J-1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108960" y="5280660"/>
            <a:ext cx="502920" cy="0"/>
          </a:xfrm>
          <a:prstGeom prst="line">
            <a:avLst/>
          </a:prstGeom>
          <a:noFill/>
          <a:ln w="19050">
            <a:solidFill>
              <a:srgbClr val="7FA8D9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43" name="Shape 41"/>
          <p:cNvSpPr/>
          <p:nvPr/>
        </p:nvSpPr>
        <p:spPr>
          <a:xfrm>
            <a:off x="3611880" y="48006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DF4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4" name="Shape 42"/>
          <p:cNvSpPr/>
          <p:nvPr/>
        </p:nvSpPr>
        <p:spPr>
          <a:xfrm>
            <a:off x="3611880" y="4800600"/>
            <a:ext cx="2194560" cy="9144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5" name="Text 43"/>
          <p:cNvSpPr/>
          <p:nvPr/>
        </p:nvSpPr>
        <p:spPr>
          <a:xfrm>
            <a:off x="3611880" y="5001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Airflow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3611880" y="53675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dims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806440" y="5280660"/>
            <a:ext cx="502920" cy="0"/>
          </a:xfrm>
          <a:prstGeom prst="line">
            <a:avLst/>
          </a:prstGeom>
          <a:noFill/>
          <a:ln w="19050">
            <a:solidFill>
              <a:srgbClr val="7FA8D9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48" name="Shape 46"/>
          <p:cNvSpPr/>
          <p:nvPr/>
        </p:nvSpPr>
        <p:spPr>
          <a:xfrm>
            <a:off x="6309360" y="48006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DF4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9" name="Shape 47"/>
          <p:cNvSpPr/>
          <p:nvPr/>
        </p:nvSpPr>
        <p:spPr>
          <a:xfrm>
            <a:off x="6309360" y="4800600"/>
            <a:ext cx="2194560" cy="9144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0" name="Text 48"/>
          <p:cNvSpPr/>
          <p:nvPr/>
        </p:nvSpPr>
        <p:spPr>
          <a:xfrm>
            <a:off x="6309360" y="5001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6309360" y="53675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dry-run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503920" y="5280660"/>
            <a:ext cx="502920" cy="0"/>
          </a:xfrm>
          <a:prstGeom prst="line">
            <a:avLst/>
          </a:prstGeom>
          <a:noFill/>
          <a:ln w="19050">
            <a:solidFill>
              <a:srgbClr val="7FA8D9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53" name="Shape 51"/>
          <p:cNvSpPr/>
          <p:nvPr/>
        </p:nvSpPr>
        <p:spPr>
          <a:xfrm>
            <a:off x="9006840" y="48006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DF4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4" name="Shape 52"/>
          <p:cNvSpPr/>
          <p:nvPr/>
        </p:nvSpPr>
        <p:spPr>
          <a:xfrm>
            <a:off x="9006840" y="4800600"/>
            <a:ext cx="2194560" cy="9144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5" name="Text 53"/>
          <p:cNvSpPr/>
          <p:nvPr/>
        </p:nvSpPr>
        <p:spPr>
          <a:xfrm>
            <a:off x="9006840" y="5001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OLAP / BI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9006840" y="53675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analytique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OLTP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PostgreSQL — le cœur transactionnel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0020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0" y="16459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Schéma normalisé 3NF  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merchants · customers · payment_methods · transactions · refunds · fraud_indicators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68680" y="2697480"/>
            <a:ext cx="10607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strict : write-back idempotent de fraud_score (UPDATE atomique)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 d’idempotence sur transactions → déduplication O(1)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ciblés : (merchant_id, created_at), status, customer_id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Haute dispo (cible AWS) : Multi-AZ, failover &lt; 30 s, read replicas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PCI-DSS : aucun PAN stocké, seul un fingerprint tokenisé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tripe_erd_ol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5802" y="380000"/>
            <a:ext cx="9160396" cy="609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Link 1"/>
          <p:cNvSpPr/>
          <p:nvPr/>
        </p:nvSpPr>
        <p:spPr>
          <a:xfrm>
            <a:off x="7620000" y="2349500"/>
            <a:ext cx="1333500" cy="1460500"/>
          </a:xfrm>
          <a:prstGeom prst="line">
            <a:avLst/>
          </a:prstGeom>
          <a:ln w="15875">
            <a:solidFill>
              <a:srgbClr val="8593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1" name="Link 2"/>
          <p:cNvSpPr/>
          <p:nvPr/>
        </p:nvSpPr>
        <p:spPr>
          <a:xfrm flipV="1">
            <a:off x="8953500" y="2349500"/>
            <a:ext cx="1333500" cy="1460500"/>
          </a:xfrm>
          <a:prstGeom prst="line">
            <a:avLst/>
          </a:prstGeom>
          <a:ln w="15875">
            <a:solidFill>
              <a:srgbClr val="8593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2" name="Link 3"/>
          <p:cNvSpPr/>
          <p:nvPr/>
        </p:nvSpPr>
        <p:spPr>
          <a:xfrm>
            <a:off x="7708900" y="3810000"/>
            <a:ext cx="419100" cy="0"/>
          </a:xfrm>
          <a:prstGeom prst="line">
            <a:avLst/>
          </a:prstGeom>
          <a:ln w="15875">
            <a:solidFill>
              <a:srgbClr val="8593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3" name="Link 4"/>
          <p:cNvSpPr/>
          <p:nvPr/>
        </p:nvSpPr>
        <p:spPr>
          <a:xfrm>
            <a:off x="9779000" y="3810000"/>
            <a:ext cx="419100" cy="0"/>
          </a:xfrm>
          <a:prstGeom prst="line">
            <a:avLst/>
          </a:prstGeom>
          <a:ln w="15875">
            <a:solidFill>
              <a:srgbClr val="8593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4" name="Link 5"/>
          <p:cNvSpPr/>
          <p:nvPr/>
        </p:nvSpPr>
        <p:spPr>
          <a:xfrm>
            <a:off x="8953500" y="4221480"/>
            <a:ext cx="0" cy="838200"/>
          </a:xfrm>
          <a:prstGeom prst="line">
            <a:avLst/>
          </a:prstGeom>
          <a:ln w="15875">
            <a:solidFill>
              <a:srgbClr val="8593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OLAP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Schéma en étoile pour l’analytique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Dénormalisation intentionnelle</a:t>
            </a:r>
            <a:endParaRPr lang="en-US" sz="1600" dirty="0"/>
          </a:p>
          <a:p>
            <a:pPr marL="0" indent="0">
              <a:spcAft>
                <a:spcPts val="160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fact_transactions au centre, 5 dimensions autour : date, marchand, client, moyen de paiement, géographie.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857500"/>
            <a:ext cx="54864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6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BY (date_key, merchant_key) → pruning</a:t>
            </a:r>
            <a:endParaRPr lang="en-US" sz="1500" dirty="0"/>
          </a:p>
          <a:p>
            <a:pPr marL="342900" indent="-342900">
              <a:spcAft>
                <a:spcPts val="26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Pré-agrégats : Dynamic Tables (cible) · mv_daily_revenue côté PostgreSQL</a:t>
            </a:r>
            <a:endParaRPr lang="en-US" sz="1500" dirty="0"/>
          </a:p>
          <a:p>
            <a:pPr marL="342900" indent="-342900">
              <a:spcAft>
                <a:spcPts val="26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Archivage &gt; 2 ans en S3 Parquet / Iceberg (~10x compression)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858000" y="2075180"/>
            <a:ext cx="152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6858000" y="2075180"/>
            <a:ext cx="152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525000" y="2075180"/>
            <a:ext cx="152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9525000" y="2075180"/>
            <a:ext cx="152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dim_merchant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84900" y="3535680"/>
            <a:ext cx="152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6184900" y="3535680"/>
            <a:ext cx="152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dim_customer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198100" y="3535680"/>
            <a:ext cx="152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10198100" y="3535680"/>
            <a:ext cx="152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dim_payment_method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91500" y="5059680"/>
            <a:ext cx="152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8191500" y="5059680"/>
            <a:ext cx="152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dim_geography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28000" y="3398520"/>
            <a:ext cx="1651000" cy="822960"/>
          </a:xfrm>
          <a:prstGeom prst="rect">
            <a:avLst/>
          </a:prstGeom>
          <a:solidFill>
            <a:srgbClr val="1E2761"/>
          </a:solidFill>
          <a:ln/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8128000" y="3398520"/>
            <a:ext cx="1651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fact_transactions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286812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NOSQL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MongoDB — flexibilité par conception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20440" cy="109728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10312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2834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transaction_logs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68680" y="33375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brut de chaque événement transaction (payload complet). TTL 90 j : purge RGPD automatique.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204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20440" cy="109728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08" y="2103120"/>
            <a:ext cx="640080" cy="6400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36008" y="2834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fraud_alerts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636008" y="33375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en review / block : score, règles déclenchées, model_version. Dénormalisé, lu sans JOIN.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083296" y="1737360"/>
            <a:ext cx="35204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1"/>
          <p:cNvSpPr/>
          <p:nvPr/>
        </p:nvSpPr>
        <p:spPr>
          <a:xfrm>
            <a:off x="8083296" y="1737360"/>
            <a:ext cx="3520440" cy="109728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3336" y="2103120"/>
            <a:ext cx="640080" cy="6400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03336" y="2834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ml_features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8403336" y="33375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de features par client (upsert sur customer_id). ml_monitoring : dérive et précision servie (Evidently).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Aussi user_interactions et customer_feedback : schémas prêts, non alimentés · Referencing (UUID) vers PostgreSQL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DIFFÉRENCIATEUR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Détection de fraude en temps réel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200400" cy="4023360"/>
          </a:xfrm>
          <a:prstGeom prst="rect">
            <a:avLst/>
          </a:prstGeom>
          <a:solidFill>
            <a:srgbClr val="16204A"/>
          </a:solidFill>
          <a:ln w="12700">
            <a:solidFill>
              <a:srgbClr val="2A35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148840"/>
            <a:ext cx="822960" cy="822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1089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D85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 100 ms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685800" y="40233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pendant que la transaction est en attente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160520" y="1874520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416052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800600" y="182880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Événement CDC Debezium consommé depuis Kafka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160520" y="2679192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4160520" y="2679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800600" y="2633472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Vélocité 1 h / 24 h lue dans Redis (&lt; 1 ms)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160520" y="3483864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416052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800600" y="3438144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(MLflow) ou 5 règles en fallback ; seuils 0.60 / 0.85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160520" y="4288536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416052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800600" y="4242816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 écrite dans PostgreSQL + MongoDB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160520" y="5093208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8"/>
          <p:cNvSpPr/>
          <p:nvPr/>
        </p:nvSpPr>
        <p:spPr>
          <a:xfrm>
            <a:off x="4160520" y="5093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4800600" y="5047488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Evidently suit la dérive · servi : précision 0,93 · rappel 0,96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INDUSTRIALISATION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 PoC local à la cible cloud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94960" cy="406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5394960" cy="86868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69164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6642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FONCTIONNEL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508760" y="20066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· localhost:8501 · admin / Bloc2-Demo-2026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14400" y="269748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complète réelle, testée en CI (GitHub Actions)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· Kafka · Debezium · Redis · Mongo · Airflow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· MLflow · Evidently · Streamlit sécurisé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quasi nul — contrainte budget assumée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172200" y="1508760"/>
            <a:ext cx="5394960" cy="406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6172200" y="1508760"/>
            <a:ext cx="5394960" cy="86868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691640"/>
            <a:ext cx="502920" cy="5029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32320" y="16642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CIBLE INDUSTRIALISÉE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132320" y="20066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managé · Terraform validé en CI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37960" y="269748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Multi-AZ · MSK · ElastiCache · Atlas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Fargate · MWAA · S3 · Snowflake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KMS/IAM/Secrets · PCI-DSS / RGPD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Multi-AZ · FinOps chiffré (~3 100 $/mois)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48640" y="5740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architecture logique — on substitue les composants, la logique ne change pas.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302546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22960" y="12700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résumé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18542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architecture polyglotte, prouvée puis industrialisable</a:t>
            </a:r>
            <a:endParaRPr lang="en-US" sz="32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33756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32918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système à sa place : ACID, analytique, NoSQL, streaming</a:t>
            </a:r>
            <a:endParaRPr lang="en-US" sz="16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050792"/>
            <a:ext cx="411480" cy="411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400507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+ CDC découplent tout sans ralentir l’OLTP</a:t>
            </a:r>
            <a:endParaRPr lang="en-US" sz="16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764024"/>
            <a:ext cx="411480" cy="4114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463040" y="4718304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Fraude scorée par XGBoost en temps réel, boucle fermée sur PostgreSQL</a:t>
            </a:r>
            <a:endParaRPr lang="en-US" sz="16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477256"/>
            <a:ext cx="411480" cy="41148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463040" y="543153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testé en CI → cible AWS écrite en Terraform</a:t>
            </a:r>
            <a:endParaRPr lang="en-US" sz="1650" dirty="0"/>
          </a:p>
        </p:txBody>
      </p:sp>
      <p:sp>
        <p:nvSpPr>
          <p:cNvPr id="13" name="Text 7"/>
          <p:cNvSpPr/>
          <p:nvPr/>
        </p:nvSpPr>
        <p:spPr>
          <a:xfrm>
            <a:off x="82296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Patrice Duclos  ·  AIA RNCP41993 — Bloc 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tripe_mongodb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619" y="380000"/>
            <a:ext cx="10586761" cy="609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tripe_code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552" y="380000"/>
            <a:ext cx="10534896" cy="609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tripe_aws_ci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168" y="380000"/>
            <a:ext cx="9373664" cy="609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?>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1C46026-3C79-5949-8581-8142011F10E5}">
  <we:reference id="wa200010001" version="1.0.0.1" store="fr-FR" storeType="OMEX"/>
  <we:alternateReferences>
    <we:reference id="wa200010001" version="1.0.0.1" store="wa200010001" storeType="OMEX"/>
  </we:alternateReferences>
  <we:properties>
    <we:property name="claude.fileId" value="&quot;bce9307d-2c5d-4c8e-92d3-f1b803c2895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713</Words>
  <Application>Microsoft Macintosh PowerPoint</Application>
  <PresentationFormat>Grand écran</PresentationFormat>
  <Paragraphs>138</Paragraphs>
  <Slides>12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Consolas</vt:lpstr>
      <vt:lpstr>Georgia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Stripe — Architecture de données</dc:title>
  <dc:subject>PptxGenJS Presentation</dc:subject>
  <dc:creator>Patrice DUCLOS</dc:creator>
  <cp:lastModifiedBy>Patrice DUCLOS</cp:lastModifiedBy>
  <cp:revision>3</cp:revision>
  <dcterms:created xsi:type="dcterms:W3CDTF">2026-06-17T14:39:11Z</dcterms:created>
  <dcterms:modified xsi:type="dcterms:W3CDTF">2026-09-15T15:57:52Z</dcterms:modified>
</cp:coreProperties>
</file>