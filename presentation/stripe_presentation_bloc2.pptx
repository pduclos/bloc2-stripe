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73" r:id="rId9"/>
    <p:sldId id="262" r:id="rId10"/>
    <p:sldId id="263" r:id="rId11"/>
    <p:sldId id="271" r:id="rId12"/>
    <p:sldId id="277" r:id="rId22"/>
    <p:sldId id="265" r:id="rId13"/>
    <p:sldId id="274" r:id="rId19"/>
    <p:sldId id="276" r:id="rId21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94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1905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41248" y="307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données unifiée  ·  OLTP · OLAP · NoSQL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810000"/>
            <a:ext cx="3108960" cy="41148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41248" y="398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temps réel  ·  Détection de fraude  ·  PoC fonctionnel local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5669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Patrice Duclos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AIA — RNCP41993 · Bloc 2 — Octobre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seule base ne peut pas tout faire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grande échelle, demander à PostgreSQL l’ACID transactionnel, l’analytique lourde et le stockage non-structuré en même temps devient ingérable. La réponse : une architecture polyglotte.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13000"/>
            <a:ext cx="3520440" cy="294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2413000"/>
            <a:ext cx="3520440" cy="109728"/>
          </a:xfrm>
          <a:prstGeom prst="rect">
            <a:avLst/>
          </a:prstGeom>
          <a:solidFill>
            <a:srgbClr val="635B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1940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33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Volumes massifs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216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de transactions/jour, latence &lt; 50 ms exigée sur l’OLTP.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15968" y="2413000"/>
            <a:ext cx="3520440" cy="294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315968" y="2413000"/>
            <a:ext cx="3520440" cy="109728"/>
          </a:xfrm>
          <a:prstGeom prst="rect">
            <a:avLst/>
          </a:prstGeom>
          <a:solidFill>
            <a:srgbClr val="2F7BD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2819400"/>
            <a:ext cx="777240" cy="777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3733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Analytique complexe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36008" y="4216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multi-dimensions sur tout l’historique, sans bloquer la prod.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3296" y="2413000"/>
            <a:ext cx="3520440" cy="294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083296" y="2413000"/>
            <a:ext cx="3520440" cy="109728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819400"/>
            <a:ext cx="777240" cy="7772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3336" y="3733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Conformité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03336" y="4216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v4.0 et RGPD sur des données de paiement sensibles.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bon outil pour chaque besoin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8872" cy="20116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92808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103120" y="20574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2103120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ACID, source de vérité, 3NF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50876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172200" y="1508760"/>
            <a:ext cx="118872" cy="2011680"/>
          </a:xfrm>
          <a:prstGeom prst="rect">
            <a:avLst/>
          </a:prstGeom>
          <a:solidFill>
            <a:srgbClr val="2F7BD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892808"/>
            <a:ext cx="91440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726680" y="20574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7726680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en étoile · dry-run, hors pipeline live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548640" y="3749040"/>
            <a:ext cx="118872" cy="201168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33088"/>
            <a:ext cx="914400" cy="9144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031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103120" y="429895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2300" dirty="0"/>
          </a:p>
        </p:txBody>
      </p:sp>
      <p:sp>
        <p:nvSpPr>
          <p:cNvPr id="21" name="Text 16"/>
          <p:cNvSpPr/>
          <p:nvPr/>
        </p:nvSpPr>
        <p:spPr>
          <a:xfrm>
            <a:off x="2103120" y="4846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alertes, features &amp; monitoring ML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172200" y="374904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6172200" y="3749040"/>
            <a:ext cx="118872" cy="201168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133088"/>
            <a:ext cx="914400" cy="914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66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726680" y="429895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Kafka + scoring Python</a:t>
            </a:r>
            <a:endParaRPr lang="en-US" sz="2300" dirty="0"/>
          </a:p>
        </p:txBody>
      </p:sp>
      <p:sp>
        <p:nvSpPr>
          <p:cNvPr id="27" name="Text 21"/>
          <p:cNvSpPr/>
          <p:nvPr/>
        </p:nvSpPr>
        <p:spPr>
          <a:xfrm>
            <a:off x="7726680" y="4846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d’événements, scoring temps réel + Redis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tripe_architecture_glob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920" y="380000"/>
            <a:ext cx="8950160" cy="609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parcours de la donnée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2423160"/>
          </a:xfrm>
          <a:prstGeom prst="roundRect">
            <a:avLst>
              <a:gd name="adj" fmla="val 3019"/>
            </a:avLst>
          </a:prstGeom>
          <a:solidFill>
            <a:srgbClr val="EEEDFE"/>
          </a:solidFill>
          <a:ln w="12700">
            <a:solidFill>
              <a:srgbClr val="D9D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5179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TEMPS RÉEL — scoring fraude &lt; 100 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148840"/>
            <a:ext cx="16276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1627632" cy="9144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13232" y="23774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27523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40864" y="2674620"/>
            <a:ext cx="164592" cy="0"/>
          </a:xfrm>
          <a:prstGeom prst="line">
            <a:avLst/>
          </a:prstGeom>
          <a:noFill/>
          <a:ln w="19050">
            <a:solidFill>
              <a:srgbClr val="8A88B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505456" y="2148840"/>
            <a:ext cx="16276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505456" y="2148840"/>
            <a:ext cx="1627632" cy="914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05456" y="23774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05456" y="27523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· ACID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33088" y="2674620"/>
            <a:ext cx="164592" cy="0"/>
          </a:xfrm>
          <a:prstGeom prst="line">
            <a:avLst/>
          </a:prstGeom>
          <a:noFill/>
          <a:ln w="19050">
            <a:solidFill>
              <a:srgbClr val="8A88B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297680" y="2148840"/>
            <a:ext cx="16276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297680" y="2148840"/>
            <a:ext cx="1627632" cy="9144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297680" y="23774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27523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25312" y="2674620"/>
            <a:ext cx="164592" cy="0"/>
          </a:xfrm>
          <a:prstGeom prst="line">
            <a:avLst/>
          </a:prstGeom>
          <a:noFill/>
          <a:ln w="19050">
            <a:solidFill>
              <a:srgbClr val="8A88B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089904" y="2148840"/>
            <a:ext cx="16276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089904" y="2148840"/>
            <a:ext cx="1627632" cy="9144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089904" y="23774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9904" y="27523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17536" y="2674620"/>
            <a:ext cx="164592" cy="0"/>
          </a:xfrm>
          <a:prstGeom prst="line">
            <a:avLst/>
          </a:prstGeom>
          <a:noFill/>
          <a:ln w="19050">
            <a:solidFill>
              <a:srgbClr val="8A88B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882128" y="2148840"/>
            <a:ext cx="16276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882128" y="2148840"/>
            <a:ext cx="1627632" cy="9144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882128" y="23774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+ Redis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82128" y="27523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règles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509760" y="2674620"/>
            <a:ext cx="164592" cy="0"/>
          </a:xfrm>
          <a:prstGeom prst="line">
            <a:avLst/>
          </a:prstGeom>
          <a:noFill/>
          <a:ln w="19050">
            <a:solidFill>
              <a:srgbClr val="8A88B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9674352" y="2148840"/>
            <a:ext cx="16276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9674352" y="2148840"/>
            <a:ext cx="1627632" cy="91440"/>
          </a:xfrm>
          <a:prstGeom prst="rect">
            <a:avLst/>
          </a:prstGeom>
          <a:solidFill>
            <a:srgbClr val="2F7B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9674352" y="23774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74352" y="27523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alerts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3101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write-back fraud_score → PostgreSQL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E7F0FB"/>
          </a:solidFill>
          <a:ln w="12700">
            <a:solidFill>
              <a:srgbClr val="CBD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77240" y="4206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BATCH — nuit · Apache Airflow · Snowflake en dry-run (pas dans la démo live)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4400" y="480060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DF4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914400" y="4800600"/>
            <a:ext cx="2194560" cy="914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914400" y="5001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5367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J-1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08960" y="5280660"/>
            <a:ext cx="502920" cy="0"/>
          </a:xfrm>
          <a:prstGeom prst="line">
            <a:avLst/>
          </a:prstGeom>
          <a:noFill/>
          <a:ln w="19050">
            <a:solidFill>
              <a:srgbClr val="7FA8D9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3611880" y="480060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DF4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3611880" y="4800600"/>
            <a:ext cx="2194560" cy="9144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611880" y="5001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Airflow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611880" y="5367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dims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06440" y="5280660"/>
            <a:ext cx="502920" cy="0"/>
          </a:xfrm>
          <a:prstGeom prst="line">
            <a:avLst/>
          </a:prstGeom>
          <a:noFill/>
          <a:ln w="19050">
            <a:solidFill>
              <a:srgbClr val="7FA8D9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309360" y="480060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DF4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309360" y="4800600"/>
            <a:ext cx="2194560" cy="91440"/>
          </a:xfrm>
          <a:prstGeom prst="rect">
            <a:avLst/>
          </a:prstGeom>
          <a:solidFill>
            <a:srgbClr val="2F7B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309360" y="5001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309360" y="5367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503920" y="5280660"/>
            <a:ext cx="502920" cy="0"/>
          </a:xfrm>
          <a:prstGeom prst="line">
            <a:avLst/>
          </a:prstGeom>
          <a:noFill/>
          <a:ln w="19050">
            <a:solidFill>
              <a:srgbClr val="7FA8D9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006840" y="480060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DF4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006840" y="4800600"/>
            <a:ext cx="2194560" cy="91440"/>
          </a:xfrm>
          <a:prstGeom prst="rect">
            <a:avLst/>
          </a:prstGeom>
          <a:solidFill>
            <a:srgbClr val="2F7B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9006840" y="5001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/ BI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006840" y="5367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OLTP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— le cœur transactionnel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645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Schéma normalisé 3NF  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· customers · payment_methods · transactions · refunds · fraud_indicators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8680" y="2697480"/>
            <a:ext cx="10607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strict : write-back idempotent de fraud_score (UPDATE atomique)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d’idempotence sur transactions → déduplication O(1)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ciblés : (merchant_id, created_at), status, customer_id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 (cible AWS) : Multi-AZ, failover &lt; 30 s, read replicas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: aucun PAN stocké, seul un fingerprint tokenisé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tripe_erd_ol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802" y="380000"/>
            <a:ext cx="9160396" cy="609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Link 1"/>
          <p:cNvSpPr/>
          <p:nvPr/>
        </p:nvSpPr>
        <p:spPr>
          <a:xfrm>
            <a:off x="7620000" y="2349500"/>
            <a:ext cx="1333500" cy="1460500"/>
          </a:xfrm>
          <a:prstGeom prst="line">
            <a:avLst/>
          </a:prstGeom>
          <a:ln w="15875">
            <a:solidFill>
              <a:srgbClr val="8593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1" name="Link 2"/>
          <p:cNvSpPr/>
          <p:nvPr/>
        </p:nvSpPr>
        <p:spPr>
          <a:xfrm flipV="1">
            <a:off x="8953500" y="2349500"/>
            <a:ext cx="1333500" cy="1460500"/>
          </a:xfrm>
          <a:prstGeom prst="line">
            <a:avLst/>
          </a:prstGeom>
          <a:ln w="15875">
            <a:solidFill>
              <a:srgbClr val="8593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2" name="Link 3"/>
          <p:cNvSpPr/>
          <p:nvPr/>
        </p:nvSpPr>
        <p:spPr>
          <a:xfrm>
            <a:off x="7708900" y="3810000"/>
            <a:ext cx="419100" cy="0"/>
          </a:xfrm>
          <a:prstGeom prst="line">
            <a:avLst/>
          </a:prstGeom>
          <a:ln w="15875">
            <a:solidFill>
              <a:srgbClr val="8593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3" name="Link 4"/>
          <p:cNvSpPr/>
          <p:nvPr/>
        </p:nvSpPr>
        <p:spPr>
          <a:xfrm>
            <a:off x="9779000" y="3810000"/>
            <a:ext cx="419100" cy="0"/>
          </a:xfrm>
          <a:prstGeom prst="line">
            <a:avLst/>
          </a:prstGeom>
          <a:ln w="15875">
            <a:solidFill>
              <a:srgbClr val="8593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4" name="Link 5"/>
          <p:cNvSpPr/>
          <p:nvPr/>
        </p:nvSpPr>
        <p:spPr>
          <a:xfrm>
            <a:off x="8953500" y="4221480"/>
            <a:ext cx="0" cy="838200"/>
          </a:xfrm>
          <a:prstGeom prst="line">
            <a:avLst/>
          </a:prstGeom>
          <a:ln w="15875">
            <a:solidFill>
              <a:srgbClr val="8593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3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OLAP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Schéma en étoile pour l’analytique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Dénormalisation intentionnelle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 au centre, 5 dimensions autour : date, marchand, client, moyen de paiement, géographie.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857500"/>
            <a:ext cx="5486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BY (date_key, merchant_key) → pruning</a:t>
            </a:r>
            <a:endParaRPr lang="en-US" sz="150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Pré-agrégats : Dynamic Tables (cible) · mv_daily_revenue côté PostgreSQL</a:t>
            </a:r>
            <a:endParaRPr lang="en-US" sz="150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&gt; 2 ans en S3 Parquet / Iceberg (~10x compression)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2075180"/>
            <a:ext cx="152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BD6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0" y="2075180"/>
            <a:ext cx="152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25000" y="2075180"/>
            <a:ext cx="152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BD6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525000" y="2075180"/>
            <a:ext cx="152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dim_merchant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4900" y="3535680"/>
            <a:ext cx="152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BD6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84900" y="3535680"/>
            <a:ext cx="152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198100" y="3535680"/>
            <a:ext cx="152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BD6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198100" y="3535680"/>
            <a:ext cx="152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dim_payment_method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91500" y="5059680"/>
            <a:ext cx="152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BD6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191500" y="5059680"/>
            <a:ext cx="152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28000" y="3398520"/>
            <a:ext cx="1651000" cy="822960"/>
          </a:xfrm>
          <a:prstGeom prst="rect">
            <a:avLst/>
          </a:prstGeom>
          <a:solidFill>
            <a:srgbClr val="1E2761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128000" y="3398520"/>
            <a:ext cx="165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28681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NOSQL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— flexibilité par conception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10972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transaction_logs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brut de chaque événement transaction (payload complet). TTL 90 j : purge RGPD automatique.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15968" y="173736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315968" y="1737360"/>
            <a:ext cx="3520440" cy="109728"/>
          </a:xfrm>
          <a:prstGeom prst="rect">
            <a:avLst/>
          </a:prstGeom>
          <a:solidFill>
            <a:srgbClr val="2F7BD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1031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fraud_alerts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36008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en review / block : score, règles déclenchées, model_version. Dénormalisé, lu sans JOIN.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83296" y="173736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083296" y="1737360"/>
            <a:ext cx="3520440" cy="109728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1031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ml_features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03336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 de features par client (upsert sur customer_id). ml_monitoring : dérive et précision servie (Evidently).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Aussi user_interactions et customer_feedback : schémas prêts, non alimentés · Referencing (UUID) vers PostgreSQL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 fraude en temps réel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00400" cy="4023360"/>
          </a:xfrm>
          <a:prstGeom prst="rect">
            <a:avLst/>
          </a:prstGeom>
          <a:solidFill>
            <a:srgbClr val="16204A"/>
          </a:solidFill>
          <a:ln w="12700">
            <a:solidFill>
              <a:srgbClr val="2A35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488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100 ms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4023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pendant que la transaction est en attente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60520" y="1874520"/>
            <a:ext cx="457200" cy="457200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160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00600" y="18288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 CDC Debezium consommé depuis Kafka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60520" y="2679192"/>
            <a:ext cx="457200" cy="457200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6052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00600" y="263347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Vélocité 1 h / 24 h lue dans Redis (&lt; 1 ms)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160520" y="3483864"/>
            <a:ext cx="457200" cy="457200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1605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00600" y="343814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(MLflow) ou 5 règles en repli ; seuils 0.60 / 0.85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60520" y="4288536"/>
            <a:ext cx="457200" cy="457200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16052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800600" y="42428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écrite dans PostgreSQL + MongoDB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160520" y="5093208"/>
            <a:ext cx="457200" cy="457200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16052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00600" y="504748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suit la dérive · servi : précision 0,93 · rappel 0,96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PoC local à la cible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8686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64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FONCTIONNEL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006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localhost:8501 · admin / Bloc2-Demo-2026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69748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complète réelle, testée en CI (GitHub Actions)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Kafka · Debezium · Redis · Mongo · Airflow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MLflow · Evidently · Streamlit sécurisé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quasi nul — contrainte budget assumée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1508760"/>
            <a:ext cx="539496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172200" y="1508760"/>
            <a:ext cx="5394960" cy="868680"/>
          </a:xfrm>
          <a:prstGeom prst="rect">
            <a:avLst/>
          </a:prstGeom>
          <a:solidFill>
            <a:srgbClr val="2F7BD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916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664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INDUSTRIALISÉE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132320" y="2006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managé · Terraform validé en CI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37960" y="269748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Multi-AZ · MSK · ElastiCache · Atlas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· MWAA · S3 · Snowflake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KMS/IAM/Secrets · PCI-DSS / RGPD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· FinOps chiffré (~3 100 $/mois)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" y="5740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architecture logique — on substitue les composants, la logique ne change pas.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02546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1270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54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architecture polyglotte, prouvée puis industrialisable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3291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A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système à sa place : ACID, analytique, NoSQL, streaming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5079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40050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A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CDC découplent tout sans ralentir l’OLTP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64024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471830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A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scorée par XGBoost en temps réel, boucle fermée sur PostgreSQL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477256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63040" y="543153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A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testé en CI → cible AWS écrite en Terraform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Patrice Duclos  ·  AIA RNCP41993 — Bloc 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tripe_mongodb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19" y="380000"/>
            <a:ext cx="10586761" cy="609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tripe_code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52" y="380000"/>
            <a:ext cx="10534896" cy="609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tripe_aws_c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168" y="380000"/>
            <a:ext cx="9373664" cy="609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0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Qualité, données et restitution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8686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64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EXÉCUTÉES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006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 · make queries-check · make tf-validate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69748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 tests de bout en bout au vert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: 9 SQL + 11 MongoDB exécutées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: anonymize_customer() · TTL 90 j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fraud_indicators en 1 transaction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1508760"/>
            <a:ext cx="539496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172200" y="1508760"/>
            <a:ext cx="5394960" cy="868680"/>
          </a:xfrm>
          <a:prstGeom prst="rect">
            <a:avLst/>
          </a:prstGeom>
          <a:solidFill>
            <a:srgbClr val="2F7BD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916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664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MLOPS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132320" y="2006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· admin / Bloc2-Demo-2026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37960" y="269748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 : KPIs, alertes, suspects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ML : dérive, précision servie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· Evidently · réentraînement automatique</a:t>
            </a:r>
            <a:endParaRPr lang="en-US" sz="1500" dirty="0"/>
          </a:p>
          <a:p>
            <a:pPr marL="342900" indent="-342900">
              <a:spcAft>
                <a:spcPts val="41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régénérés depuis le code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" y="5740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affirmation se vérifie par une commande du Makefile ou un onglet du dashboard.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02546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1C46026-3C79-5949-8581-8142011F10E5}">
  <we:reference id="wa200010001" version="1.0.0.1" store="fr-FR" storeType="OMEX"/>
  <we:alternateReferences>
    <we:reference id="wa200010001" version="1.0.0.1" store="wa200010001" storeType="OMEX"/>
  </we:alternateReferences>
  <we:properties>
    <we:property name="claude.fileId" value="&quot;bce9307d-2c5d-4c8e-92d3-f1b803c289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713</Words>
  <Application>Microsoft Macintosh PowerPoint</Application>
  <PresentationFormat>Grand écran</PresentationFormat>
  <Paragraphs>138</Paragraphs>
  <Slides>12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Stripe — Architecture de données</dc:title>
  <dc:subject>PptxGenJS Presentation</dc:subject>
  <dc:creator>Patrice DUCLOS</dc:creator>
  <cp:lastModifiedBy>Patrice DUCLOS</cp:lastModifiedBy>
  <cp:revision>3</cp:revision>
  <dcterms:created xsi:type="dcterms:W3CDTF">2026-06-17T14:39:11Z</dcterms:created>
  <dcterms:modified xsi:type="dcterms:W3CDTF">2026-09-15T15:57:52Z</dcterms:modified>
</cp:coreProperties>
</file>